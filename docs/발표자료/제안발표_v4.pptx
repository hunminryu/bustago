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743200" cy="320040"/>
          </a:xfrm>
          <a:prstGeom prst="roundRect">
            <a:avLst>
              <a:gd name="adj" fmla="val 14286"/>
            </a:avLst>
          </a:prstGeom>
          <a:solidFill>
            <a:srgbClr val="1E8EB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광주대학교 캡스톤디자인 RISE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BUSTAGO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버스 정류장 혼잡도 예측 시스템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731520" cy="54864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같이타요     Date  2026-05-21     발표자  팀원 기입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3049"/>
          </a:solidFill>
          <a:ln/>
        </p:spPr>
      </p:sp>
      <p:sp>
        <p:nvSpPr>
          <p:cNvPr id="11" name="Shape 9"/>
          <p:cNvSpPr/>
          <p:nvPr/>
        </p:nvSpPr>
        <p:spPr>
          <a:xfrm>
            <a:off x="7040880" y="1097280"/>
            <a:ext cx="1463040" cy="146304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09728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🚌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혼잡도 예측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+ DeepSORT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RandomForest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64008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5303520" cy="685800"/>
          </a:xfrm>
          <a:prstGeom prst="rect">
            <a:avLst/>
          </a:prstGeom>
          <a:solidFill>
            <a:srgbClr val="FEF9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1381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광주대 셔틀 버스가 만차일 때, 학생들은 아무런 정보 없이 정류장에서 기다린다.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64008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45920"/>
            <a:ext cx="5303520" cy="685800"/>
          </a:xfrm>
          <a:prstGeom prst="rect">
            <a:avLst/>
          </a:prstGeom>
          <a:solidFill>
            <a:srgbClr val="FEF9F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8249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부재로 인한 불편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버스까지 얼마나 기다려야 하는지, 탈 수 있는지 확인할 방법이 없다.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1C355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603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타야 하나, 다음 버스를 기다려야 하나?"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7772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C3557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822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035040" y="1307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 정보 부재로 불편을 경험한 학생 비율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828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N≥50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03504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설문 조사 대상 (광주대 학생)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2880360"/>
            <a:ext cx="2743200" cy="365760"/>
          </a:xfrm>
          <a:prstGeom prst="roundRect">
            <a:avLst>
              <a:gd name="adj" fmla="val 17500"/>
            </a:avLst>
          </a:prstGeom>
          <a:solidFill>
            <a:srgbClr val="F8FA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팀 자체 설문조사 결과 (2026-03)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개요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카운팅 + ML 예측 + PWA 표시 — 정류장 혼잡도를 실시간으로 학생에게 전달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C355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카메라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(Jetson 직결)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65376" y="1645920"/>
            <a:ext cx="269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71700" y="141732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C3557"/>
          </a:solidFill>
          <a:ln/>
        </p:spPr>
      </p:sp>
      <p:sp>
        <p:nvSpPr>
          <p:cNvPr id="12" name="Text 10"/>
          <p:cNvSpPr/>
          <p:nvPr/>
        </p:nvSpPr>
        <p:spPr>
          <a:xfrm>
            <a:off x="2171700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1700" y="1719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DeepSORT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79876" y="1645920"/>
            <a:ext cx="269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0" y="141732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C3557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1719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RandomForest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94376" y="1645920"/>
            <a:ext cx="269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0700" y="141732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C3557"/>
          </a:solidFill>
          <a:ln/>
        </p:spPr>
      </p:sp>
      <p:sp>
        <p:nvSpPr>
          <p:cNvPr id="20" name="Text 18"/>
          <p:cNvSpPr/>
          <p:nvPr/>
        </p:nvSpPr>
        <p:spPr>
          <a:xfrm>
            <a:off x="5600700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PWA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00700" y="1719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혼잡도 4단계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노선 추천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08876" y="1645920"/>
            <a:ext cx="269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41732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C355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444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17190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743200"/>
            <a:ext cx="64008" cy="82296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" y="2743200"/>
            <a:ext cx="265176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7797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수동 운영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기사 경험 의존 / 실시간 정보 없음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2743200"/>
            <a:ext cx="64008" cy="82296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31" name="Shape 29"/>
          <p:cNvSpPr/>
          <p:nvPr/>
        </p:nvSpPr>
        <p:spPr>
          <a:xfrm>
            <a:off x="3264408" y="2743200"/>
            <a:ext cx="265176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7797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BUSTAGO 자동화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64992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실시간 카운팅 → ML 예측 → 즉시 알림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743200"/>
            <a:ext cx="64008" cy="82296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9048" y="2743200"/>
            <a:ext cx="265176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27797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편익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9632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스마트폰에서 언제든 혼잡도 확인 가능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486400" cy="749808"/>
          </a:xfrm>
          <a:prstGeom prst="roundRect">
            <a:avLst>
              <a:gd name="adj" fmla="val 12195"/>
            </a:avLst>
          </a:prstGeom>
          <a:solidFill>
            <a:srgbClr val="E8F4F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41832"/>
            <a:ext cx="420624" cy="420624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41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8229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Orin Nano 8GB — AI 카운팅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1247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YOLOv8-nano TensorRT FP16  |  DeepSORT Track ID  |  25~40 FPS  |  Line Crossing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5486400" cy="749808"/>
          </a:xfrm>
          <a:prstGeom prst="roundRect">
            <a:avLst>
              <a:gd name="adj" fmla="val 12195"/>
            </a:avLst>
          </a:prstGeom>
          <a:solidFill>
            <a:srgbClr val="F0F7EE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56232"/>
            <a:ext cx="420624" cy="42062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56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17373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 — Kiosk 디스플레이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2039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 --kiosk  |  학생 PWA 표시  |  정류장 현장 화면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5486400" cy="749808"/>
          </a:xfrm>
          <a:prstGeom prst="roundRect">
            <a:avLst>
              <a:gd name="adj" fmla="val 12195"/>
            </a:avLst>
          </a:prstGeom>
          <a:solidFill>
            <a:srgbClr val="FEF6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77063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70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6517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— Flask + ML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29535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9 API  |  RandomForest (CV 0.9962)  |  SQLite/MySQL  |  Docker 배포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777240"/>
            <a:ext cx="2743200" cy="2697480"/>
          </a:xfrm>
          <a:prstGeom prst="roundRect">
            <a:avLst>
              <a:gd name="adj" fmla="val 3390"/>
            </a:avLst>
          </a:prstGeom>
          <a:solidFill>
            <a:srgbClr val="1C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Pi 대신 Jetson인가?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28016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12618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2~5 FPS → DeepSORT Track ID 불안정 → 중복 카운팅 발생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178308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7830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17647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25~40 FPS → 안정적 Track ID → 정확한 카운팅 보장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카운팅 설명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95528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95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74980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795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YOLOv8-nano 탐지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0698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TensorRT FP16 변환으로 Jetson에서 25~40 FPS 추론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0.5 이상 Person 감지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161848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6642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DeepSORT 트래킹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9385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사람에게 고유 Track ID 부여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max_cosine_distance=0.3  |  프레임 간 동일 인물 연결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532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248716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5328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Crossing 카운팅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807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라인(y=0.7) 통과 → 진입 카운트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라인(y=0.3) 통과 → 탑승 카운트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68680" y="335584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4015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전송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3675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10초 주기로 /api/crowd-count POST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DB 저장 → 실시간 대시보드 반영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73152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1C3557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841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Crossing 구조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234440"/>
            <a:ext cx="2377440" cy="1097280"/>
          </a:xfrm>
          <a:prstGeom prst="roundRect">
            <a:avLst>
              <a:gd name="adj" fmla="val 5833"/>
            </a:avLst>
          </a:prstGeom>
          <a:solidFill>
            <a:srgbClr val="16304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1371600"/>
            <a:ext cx="50292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34416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라인 (y=0.7) — 정류장 진입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55080" y="1691640"/>
            <a:ext cx="502920" cy="914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1664208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라인 (y=0.3) — 탑승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2468880"/>
            <a:ext cx="2377440" cy="548640"/>
          </a:xfrm>
          <a:prstGeom prst="roundRect">
            <a:avLst>
              <a:gd name="adj" fmla="val 11667"/>
            </a:avLst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ID 기반 중복 방지: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ID는 1회만 카운트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혼잡도 예측 모델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입력 Feature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(시간대)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(요일)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10058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(날씨)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005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(기온)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3898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389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prev_boarding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0" y="13898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1389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prev_alighting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13898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3898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route_count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19202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9933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서울 데이터 → 광주 직접 적용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3042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국토부 혼잡도 4단계 분류 표준을 서울·광주가 동일하게 사용하므로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재학습 없이 직접 적용 가능 / 추후 Ground Truth 수집 후 파인튜닝 예정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7315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C355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8046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0.9962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정확도 (5-fold Cross Validation)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18288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19019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MB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94360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모델 크기 (n=10, depth=10)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30175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3090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혼잡도 4단계 (국토부 표준)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447288"/>
            <a:ext cx="164592" cy="16459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429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원활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749040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730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서행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4050792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03250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3단계: 혼잡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352544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33425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4단계: 매우 혼잡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화면 — 학생 PWA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2286000" cy="4114800"/>
          </a:xfrm>
          <a:prstGeom prst="roundRect">
            <a:avLst>
              <a:gd name="adj" fmla="val 8000"/>
            </a:avLst>
          </a:prstGeom>
          <a:solidFill>
            <a:srgbClr val="1C355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886968"/>
            <a:ext cx="2011680" cy="3749040"/>
          </a:xfrm>
          <a:prstGeom prst="round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32688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1C35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BUSTAGO 학생 앱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261872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출발: 광주대 인성관 (INS01)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94360" y="1572768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대기 인원: 3명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" y="2276856"/>
            <a:ext cx="54864" cy="256032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286000"/>
            <a:ext cx="17647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860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셔틀 1호차 → 정문 ★ 추천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624328"/>
            <a:ext cx="54864" cy="256032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633472"/>
            <a:ext cx="17647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334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셔틀 2호차 → 정문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4360" y="2971800"/>
            <a:ext cx="54864" cy="256032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980944"/>
            <a:ext cx="17647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809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419번 → 광주역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17520" y="822960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822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795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출발 정류장 선택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20440" y="1097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INS01 (인성관) 또는 GATE01 (정문) 드롭다운 선택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17520" y="1828800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18013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혼잡도 4단계 표시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20440" y="21031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원활(초록) / 서행(노랑) / 혼잡(주황) / 매우 혼잡(빨강) — 색상 직관 표시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2834640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2807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노선 추천 카드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3108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혼잡도 낮은 순 정렬 + 최우선 노선에 "추천" 배지 표시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3840480"/>
            <a:ext cx="365760" cy="365760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520440" y="38130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목적지 필터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20440" y="4114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광주역, 금남로, 충장로 등 목적지 선택 시 해당 노선만 표시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화면 — 운영자 대시보드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C355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50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86868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8686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1097280" cy="731520"/>
          </a:xfrm>
          <a:prstGeom prst="roundRect">
            <a:avLst>
              <a:gd name="adj" fmla="val 8750"/>
            </a:avLst>
          </a:prstGeom>
          <a:solidFill>
            <a:srgbClr val="16304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161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대기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09928" y="1188720"/>
            <a:ext cx="1097280" cy="731520"/>
          </a:xfrm>
          <a:prstGeom prst="roundRect">
            <a:avLst>
              <a:gd name="adj" fmla="val 8750"/>
            </a:avLst>
          </a:prstGeom>
          <a:solidFill>
            <a:srgbClr val="163049"/>
          </a:solidFill>
          <a:ln/>
        </p:spPr>
      </p:sp>
      <p:sp>
        <p:nvSpPr>
          <p:cNvPr id="13" name="Text 11"/>
          <p:cNvSpPr/>
          <p:nvPr/>
        </p:nvSpPr>
        <p:spPr>
          <a:xfrm>
            <a:off x="1709928" y="12161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09928" y="1627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16936" y="1188720"/>
            <a:ext cx="1097280" cy="731520"/>
          </a:xfrm>
          <a:prstGeom prst="roundRect">
            <a:avLst>
              <a:gd name="adj" fmla="val 8750"/>
            </a:avLst>
          </a:prstGeom>
          <a:solidFill>
            <a:srgbClr val="163049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936" y="12161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916936" y="1627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탑승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23944" y="1188720"/>
            <a:ext cx="1097280" cy="731520"/>
          </a:xfrm>
          <a:prstGeom prst="roundRect">
            <a:avLst>
              <a:gd name="adj" fmla="val 8750"/>
            </a:avLst>
          </a:prstGeom>
          <a:solidFill>
            <a:srgbClr val="163049"/>
          </a:solidFill>
          <a:ln/>
        </p:spPr>
      </p:sp>
      <p:sp>
        <p:nvSpPr>
          <p:cNvPr id="19" name="Text 17"/>
          <p:cNvSpPr/>
          <p:nvPr/>
        </p:nvSpPr>
        <p:spPr>
          <a:xfrm>
            <a:off x="4123944" y="12161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23944" y="1627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연결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2057400"/>
            <a:ext cx="4663440" cy="1234440"/>
          </a:xfrm>
          <a:prstGeom prst="roundRect">
            <a:avLst>
              <a:gd name="adj" fmla="val 5185"/>
            </a:avLst>
          </a:prstGeom>
          <a:solidFill>
            <a:srgbClr val="16304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05740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시간대별 혼잡도 Bar Chart (Chart.js)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01568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16304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01568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지도 (INS01·GATE01 마커)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777240"/>
            <a:ext cx="64008" cy="100584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26" name="Shape 24"/>
          <p:cNvSpPr/>
          <p:nvPr/>
        </p:nvSpPr>
        <p:spPr>
          <a:xfrm>
            <a:off x="5833872" y="77724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850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카운팅 패널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POST 10초 주기 수신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상태 색상 표시 (초록/노랑/회색)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60720" y="2103120"/>
            <a:ext cx="64008" cy="100584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30" name="Shape 28"/>
          <p:cNvSpPr/>
          <p:nvPr/>
        </p:nvSpPr>
        <p:spPr>
          <a:xfrm>
            <a:off x="5833872" y="210312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176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시간대별 혼잡도 차트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6시간 바 차트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정류장별 필터링 가능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3429000"/>
            <a:ext cx="64008" cy="100584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34" name="Shape 32"/>
          <p:cNvSpPr/>
          <p:nvPr/>
        </p:nvSpPr>
        <p:spPr>
          <a:xfrm>
            <a:off x="5833872" y="342900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시각화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94360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Marker + 혼잡도 색상 Circle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광주대 정류장 위치 표시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8F4F8"/>
          </a:solidFill>
          <a:ln w="12700">
            <a:solidFill>
              <a:srgbClr val="1E8E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Orin Nano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+ DeepSORT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counter.py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8F4F8"/>
          </a:solidFill>
          <a:ln w="12700">
            <a:solidFill>
              <a:srgbClr val="1E8E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8046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 Kiosk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PWA 표시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HTTP POST /api/crowd-count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EEF7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서버 (9 API Endpoints)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2494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혼잡도 예측 · 노선 추천 · 카운팅 수신  |  SQLite (개발) / MySQL (배포)  |  Docker + nginx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852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852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EF6E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PWA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/ Pi Kiosk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315468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EF6E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대시보드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+ Leaflet.js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749808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822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배포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097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nginx 역방향 프록시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컨테이너화로 이식성 확보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801368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874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이중화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148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(개발/시연) · MySQL (운영)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schema.sql 적용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852928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926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+ LRU Cache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200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Flask-Limiter 20req/min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5분 캐시 800ms → 23ms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3904488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977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4251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Jetson: crontab 5분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Pi: crontab 2분 자동 재시작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시연 흐름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13816"/>
            <a:ext cx="402336" cy="402336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13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74980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8138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대시보드 열기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155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localhost:8080/admin/index.html — 카운팅 패널 + 차트 확인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402336" cy="402336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170992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7739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counter.py 실행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075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--debug 모드로 PC 웹캠 연결 / bbox·라인·FPS 화면 표시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34056"/>
            <a:ext cx="402336" cy="402336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340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67004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7340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카운팅 증가 확인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035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패널에서 현재 대기/IN/BOARD 수치 실시간 증가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402336" cy="402336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941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3630168"/>
            <a:ext cx="50292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6941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PWA 확인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9959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localhost:8080/student/index.html — 혼잡도 + 노선 추천 카드 확인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749808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C355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8412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소요: 3분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1271016"/>
            <a:ext cx="548640" cy="118872"/>
          </a:xfrm>
          <a:prstGeom prst="roundRect">
            <a:avLst>
              <a:gd name="adj" fmla="val 46154"/>
            </a:avLst>
          </a:prstGeom>
          <a:solidFill>
            <a:srgbClr val="1E8EB3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399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확인 (30초)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1728216"/>
            <a:ext cx="914400" cy="118872"/>
          </a:xfrm>
          <a:prstGeom prst="roundRect">
            <a:avLst>
              <a:gd name="adj" fmla="val 46154"/>
            </a:avLst>
          </a:prstGeom>
          <a:solidFill>
            <a:srgbClr val="1E8EB3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18562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counter.py 실행 (1분)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55080" y="2185416"/>
            <a:ext cx="1371600" cy="118872"/>
          </a:xfrm>
          <a:prstGeom prst="roundRect">
            <a:avLst>
              <a:gd name="adj" fmla="val 46154"/>
            </a:avLst>
          </a:prstGeom>
          <a:solidFill>
            <a:srgbClr val="1E8EB3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3134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시연 (1.5분)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EF9E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999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확인 필수 !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331012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웹캠 연결 확인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서버 구동 확인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 5000·8080 사용 가능 확인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및 검증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C355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3268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PASS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단위 테스트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C355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93268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0.9962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755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정확도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CrossValidation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76148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" y="3584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응답 시간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LRU 캐시 적용 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578608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76148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800ms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23ms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00400" y="3584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시간 개선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적용 전 → 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841248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841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9400" y="804672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8046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모델 훈련 + CV 검증 완료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636776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6367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6002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1600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 9개 엔드포인트 단위 테스트 통과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432304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2395728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3957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DeepSORT + YOLOv8 중복 카운팅 방지 구현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227832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3191256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19125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+ LRU 캐시 성능 최적화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023360"/>
            <a:ext cx="320040" cy="3200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0" y="3986784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39867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PWA + Admin 대시보드 화면 구현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863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42416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207008"/>
            <a:ext cx="27432" cy="749808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749808"/>
            <a:ext cx="502920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8412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시연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1612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시연 (PC 웹캠 기반) / 교수 평가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579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 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578608"/>
            <a:ext cx="27432" cy="749808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121408"/>
            <a:ext cx="502920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212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현장 설치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5328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+ Pi 정류장 설치 / Line Crossing 라인 현장 조정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1E8EB3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493008"/>
            <a:ext cx="5029200" cy="1097280"/>
          </a:xfrm>
          <a:prstGeom prst="roundRect">
            <a:avLst>
              <a:gd name="adj" fmla="val 5833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5844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+ 정확도 리포트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90448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카운팅 3일치 vs AI 오차율 분석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749808"/>
            <a:ext cx="64008" cy="1234440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23" name="Shape 21"/>
          <p:cNvSpPr/>
          <p:nvPr/>
        </p:nvSpPr>
        <p:spPr>
          <a:xfrm>
            <a:off x="6291072" y="749808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841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설치 및 통합 테스트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11612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수령 후 Jetson TensorRT 변환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Kiosk 서비스 등록 · E2E 테스트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212848"/>
            <a:ext cx="64008" cy="1234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Shape 25"/>
          <p:cNvSpPr/>
          <p:nvPr/>
        </p:nvSpPr>
        <p:spPr>
          <a:xfrm>
            <a:off x="6291072" y="2212848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FEF6E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3042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검증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6243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카운팅 vs 수동 카운팅 오차율 측정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리포트 제출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675888"/>
            <a:ext cx="64008" cy="1234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91072" y="3675888"/>
            <a:ext cx="2560320" cy="1234440"/>
          </a:xfrm>
          <a:prstGeom prst="roundRect">
            <a:avLst>
              <a:gd name="adj" fmla="val 5185"/>
            </a:avLst>
          </a:prstGeom>
          <a:solidFill>
            <a:srgbClr val="EEF7E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767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광주 BIS API 연동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08736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발급 시 실시간 노선 데이터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정밀도 향상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 및 역할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457200"/>
          </a:xfrm>
          <a:prstGeom prst="roundRect">
            <a:avLst>
              <a:gd name="adj" fmla="val 14000"/>
            </a:avLst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같이타요 — 광주대학교 캡스톤디자인 RISE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53312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53312"/>
            <a:ext cx="1920240" cy="64008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481328"/>
            <a:ext cx="640080" cy="640080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기입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팀장 / PM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발표자료 · PPT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 Truth 수집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일정 관리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1353312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1353312"/>
            <a:ext cx="1920240" cy="64008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1481328"/>
            <a:ext cx="640080" cy="640080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680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14600" y="2212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류훈민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25054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Hardware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counter.py (YOLOv8+DeepSORT)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136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Jetson TensorRT 배포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4381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Watchdog Jetson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353312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1353312"/>
            <a:ext cx="1920240" cy="64008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1481328"/>
            <a:ext cx="640080" cy="640080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63440" y="2212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기입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25054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Pi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학생 PWA · Admin 대시보드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136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 Kiosk 서비스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4381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Watchdog Pi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1353312"/>
            <a:ext cx="1920240" cy="3383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6812280" y="1353312"/>
            <a:ext cx="1920240" cy="64008"/>
          </a:xfrm>
          <a:prstGeom prst="rect">
            <a:avLst/>
          </a:prstGeom>
          <a:solidFill>
            <a:srgbClr val="1E8EB3"/>
          </a:solidFill>
          <a:ln/>
        </p:spPr>
      </p:sp>
      <p:sp>
        <p:nvSpPr>
          <p:cNvPr id="36" name="Shape 34"/>
          <p:cNvSpPr/>
          <p:nvPr/>
        </p:nvSpPr>
        <p:spPr>
          <a:xfrm>
            <a:off x="7452360" y="1481328"/>
            <a:ext cx="640080" cy="640080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148132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12280" y="22128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기입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12280" y="25054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8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ML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Flask API 9개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0" y="3136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RandomForest 모델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34381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DB 설계 · 광주 데이터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457200"/>
            <a:ext cx="3108960" cy="384048"/>
          </a:xfrm>
          <a:prstGeom prst="roundRect">
            <a:avLst>
              <a:gd name="adj" fmla="val 16667"/>
            </a:avLst>
          </a:prstGeom>
          <a:solidFill>
            <a:srgbClr val="1E8EB3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0" y="457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0" y="10058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0" y="2103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같이타요  ·  BUSTAGO  · 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04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523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광주 데이터가 없는데 서울 모델을 쓰는 이유?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0449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국토부 혼잡도 4단계 분류 표준이 동일 / 추후 Ground Truth 수집 후 파인튜닝 예정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04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5112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카메라 1대로 정확한 카운팅이 가능한가?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8039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정류장 단일 진입로 구조 + Line Crossing + DeepSORT Track ID로 정확도 확보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21538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6304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702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Pi 4 대신 Jetson을 쓰는 비용 대비 효과는?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56285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 4 = 2~5 FPS (중복 카운팅 불가피) / Jetson = 25~40 FPS (정확도 필수 전제)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BUSTAGO — 버스 정류장 혼잡도 예측 시스템</dc:title>
  <dc:subject>PptxGenJS Presentation</dc:subject>
  <dc:creator>같이타요</dc:creator>
  <cp:lastModifiedBy>같이타요</cp:lastModifiedBy>
  <cp:revision>1</cp:revision>
  <dcterms:created xsi:type="dcterms:W3CDTF">2026-05-06T10:27:01Z</dcterms:created>
  <dcterms:modified xsi:type="dcterms:W3CDTF">2026-05-06T10:27:01Z</dcterms:modified>
</cp:coreProperties>
</file>